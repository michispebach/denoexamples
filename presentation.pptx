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</p:sldMasterIdLst>
  <p:notesMasterIdLst>
    <p:notesMasterId r:id="rId14"/>
  </p:notesMasterIdLst>
  <p:sldIdLst>
    <p:sldId id="256" r:id="rId3"/>
    <p:sldId id="267" r:id="rId4"/>
    <p:sldId id="265" r:id="rId5"/>
    <p:sldId id="284" r:id="rId6"/>
    <p:sldId id="262" r:id="rId7"/>
    <p:sldId id="257" r:id="rId8"/>
    <p:sldId id="258" r:id="rId9"/>
    <p:sldId id="285" r:id="rId10"/>
    <p:sldId id="264" r:id="rId11"/>
    <p:sldId id="266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E0543-023D-4F9B-BC1A-1F2F01CCA38C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021C4-C392-4987-A836-A4E314D816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316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021C4-C392-4987-A836-A4E314D8160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3804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7F68-F6AA-5509-663C-F4081741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AB07221-ECD1-3A9A-9B06-F554E6F29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169C353-4FC3-136B-F80C-C7AB39B04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F77807-6E9B-9549-E8E0-5FDC7B5BE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021C4-C392-4987-A836-A4E314D8160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700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021C4-C392-4987-A836-A4E314D8160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17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021C4-C392-4987-A836-A4E314D8160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42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228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6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4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97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80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745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70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63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023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512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7591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687D49-BC3A-2A21-2607-7F3367A24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1EC747-7669-4439-BEFB-BCFCAA3B013D}" type="slidenum">
              <a:rPr kumimoji="0" lang="de-DE" sz="1400" b="1" i="0" u="none" strike="noStrike" kern="1200" cap="none" spc="0" normalizeH="0" baseline="0" noProof="0" smtClean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Myriad Pro Light" panose="020B0403030403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Myriad Pro Light" panose="020B0403030403020204" pitchFamily="34" charset="0"/>
              <a:ea typeface="+mn-ea"/>
              <a:cs typeface="+mn-cs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511BF9B-3108-914A-2756-A53C1FB8B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200" y="1584000"/>
            <a:ext cx="1705064" cy="1695600"/>
          </a:xfrm>
          <a:prstGeom prst="rect">
            <a:avLst/>
          </a:prstGeom>
        </p:spPr>
      </p:pic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1C3123B3-A24B-A369-CE0C-9C9599D2CA5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950723" y="1684912"/>
            <a:ext cx="1499153" cy="1465200"/>
          </a:xfrm>
          <a:custGeom>
            <a:avLst/>
            <a:gdLst>
              <a:gd name="connsiteX0" fmla="*/ 1718842 w 3315081"/>
              <a:gd name="connsiteY0" fmla="*/ 132 h 3240000"/>
              <a:gd name="connsiteX1" fmla="*/ 1831149 w 3315081"/>
              <a:gd name="connsiteY1" fmla="*/ 4233 h 3240000"/>
              <a:gd name="connsiteX2" fmla="*/ 2768663 w 3315081"/>
              <a:gd name="connsiteY2" fmla="*/ 341535 h 3240000"/>
              <a:gd name="connsiteX3" fmla="*/ 3253400 w 3315081"/>
              <a:gd name="connsiteY3" fmla="*/ 1071562 h 3240000"/>
              <a:gd name="connsiteX4" fmla="*/ 3288440 w 3315081"/>
              <a:gd name="connsiteY4" fmla="*/ 1883348 h 3240000"/>
              <a:gd name="connsiteX5" fmla="*/ 3134984 w 3315081"/>
              <a:gd name="connsiteY5" fmla="*/ 2419024 h 3240000"/>
              <a:gd name="connsiteX6" fmla="*/ 3098101 w 3315081"/>
              <a:gd name="connsiteY6" fmla="*/ 2483916 h 3240000"/>
              <a:gd name="connsiteX7" fmla="*/ 3075044 w 3315081"/>
              <a:gd name="connsiteY7" fmla="*/ 2464892 h 3240000"/>
              <a:gd name="connsiteX8" fmla="*/ 2793253 w 3315081"/>
              <a:gd name="connsiteY8" fmla="*/ 2378817 h 3240000"/>
              <a:gd name="connsiteX9" fmla="*/ 2289253 w 3315081"/>
              <a:gd name="connsiteY9" fmla="*/ 2882817 h 3240000"/>
              <a:gd name="connsiteX10" fmla="*/ 2328860 w 3315081"/>
              <a:gd name="connsiteY10" fmla="*/ 3078997 h 3240000"/>
              <a:gd name="connsiteX11" fmla="*/ 2333819 w 3315081"/>
              <a:gd name="connsiteY11" fmla="*/ 3088133 h 3240000"/>
              <a:gd name="connsiteX12" fmla="*/ 2324806 w 3315081"/>
              <a:gd name="connsiteY12" fmla="*/ 3092271 h 3240000"/>
              <a:gd name="connsiteX13" fmla="*/ 1422335 w 3315081"/>
              <a:gd name="connsiteY13" fmla="*/ 3220578 h 3240000"/>
              <a:gd name="connsiteX14" fmla="*/ 520183 w 3315081"/>
              <a:gd name="connsiteY14" fmla="*/ 2741859 h 3240000"/>
              <a:gd name="connsiteX15" fmla="*/ 1051 w 3315081"/>
              <a:gd name="connsiteY15" fmla="*/ 1705849 h 3240000"/>
              <a:gd name="connsiteX16" fmla="*/ 403379 w 3315081"/>
              <a:gd name="connsiteY16" fmla="*/ 691947 h 3240000"/>
              <a:gd name="connsiteX17" fmla="*/ 999079 w 3315081"/>
              <a:gd name="connsiteY17" fmla="*/ 178008 h 3240000"/>
              <a:gd name="connsiteX18" fmla="*/ 1718842 w 3315081"/>
              <a:gd name="connsiteY18" fmla="*/ 132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15081" h="3240000">
                <a:moveTo>
                  <a:pt x="1718842" y="132"/>
                </a:moveTo>
                <a:cubicBezTo>
                  <a:pt x="1756726" y="-440"/>
                  <a:pt x="1794283" y="826"/>
                  <a:pt x="1831149" y="4233"/>
                </a:cubicBezTo>
                <a:cubicBezTo>
                  <a:pt x="2126080" y="31488"/>
                  <a:pt x="2496580" y="133473"/>
                  <a:pt x="2768663" y="341535"/>
                </a:cubicBezTo>
                <a:cubicBezTo>
                  <a:pt x="3040745" y="549597"/>
                  <a:pt x="3174557" y="816539"/>
                  <a:pt x="3253400" y="1071562"/>
                </a:cubicBezTo>
                <a:cubicBezTo>
                  <a:pt x="3332243" y="1326584"/>
                  <a:pt x="3325589" y="1625788"/>
                  <a:pt x="3288440" y="1883348"/>
                </a:cubicBezTo>
                <a:cubicBezTo>
                  <a:pt x="3260579" y="2076518"/>
                  <a:pt x="3218668" y="2256236"/>
                  <a:pt x="3134984" y="2419024"/>
                </a:cubicBezTo>
                <a:lnTo>
                  <a:pt x="3098101" y="2483916"/>
                </a:lnTo>
                <a:lnTo>
                  <a:pt x="3075044" y="2464892"/>
                </a:lnTo>
                <a:cubicBezTo>
                  <a:pt x="2994605" y="2410549"/>
                  <a:pt x="2897635" y="2378817"/>
                  <a:pt x="2793253" y="2378817"/>
                </a:cubicBezTo>
                <a:cubicBezTo>
                  <a:pt x="2514901" y="2378817"/>
                  <a:pt x="2289253" y="2604465"/>
                  <a:pt x="2289253" y="2882817"/>
                </a:cubicBezTo>
                <a:cubicBezTo>
                  <a:pt x="2289253" y="2952405"/>
                  <a:pt x="2303356" y="3018699"/>
                  <a:pt x="2328860" y="3078997"/>
                </a:cubicBezTo>
                <a:lnTo>
                  <a:pt x="2333819" y="3088133"/>
                </a:lnTo>
                <a:lnTo>
                  <a:pt x="2324806" y="3092271"/>
                </a:lnTo>
                <a:cubicBezTo>
                  <a:pt x="2076245" y="3196773"/>
                  <a:pt x="1723106" y="3278980"/>
                  <a:pt x="1422335" y="3220578"/>
                </a:cubicBezTo>
                <a:cubicBezTo>
                  <a:pt x="1121565" y="3162177"/>
                  <a:pt x="771664" y="2999181"/>
                  <a:pt x="520183" y="2741859"/>
                </a:cubicBezTo>
                <a:cubicBezTo>
                  <a:pt x="268702" y="2484538"/>
                  <a:pt x="20518" y="2047501"/>
                  <a:pt x="1051" y="1705849"/>
                </a:cubicBezTo>
                <a:cubicBezTo>
                  <a:pt x="-18417" y="1364198"/>
                  <a:pt x="237041" y="946587"/>
                  <a:pt x="403379" y="691947"/>
                </a:cubicBezTo>
                <a:cubicBezTo>
                  <a:pt x="569717" y="437307"/>
                  <a:pt x="801026" y="269266"/>
                  <a:pt x="999079" y="178008"/>
                </a:cubicBezTo>
                <a:cubicBezTo>
                  <a:pt x="1172376" y="98157"/>
                  <a:pt x="1453650" y="4132"/>
                  <a:pt x="1718842" y="13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2CCFB8A-4F8B-1EAA-5D8A-9379CABA7D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200" y="1584000"/>
            <a:ext cx="1705064" cy="16956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9831654-DEC8-452A-362D-A89C6274D3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600" y="1860521"/>
            <a:ext cx="901746" cy="1149409"/>
          </a:xfrm>
          <a:prstGeom prst="rect">
            <a:avLst/>
          </a:prstGeom>
        </p:spPr>
      </p:pic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7D3567BC-C80C-8F2D-A1B3-698906754E3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696554" y="1684912"/>
            <a:ext cx="1499153" cy="1465200"/>
          </a:xfrm>
          <a:custGeom>
            <a:avLst/>
            <a:gdLst>
              <a:gd name="connsiteX0" fmla="*/ 1718842 w 3315081"/>
              <a:gd name="connsiteY0" fmla="*/ 132 h 3240000"/>
              <a:gd name="connsiteX1" fmla="*/ 1831149 w 3315081"/>
              <a:gd name="connsiteY1" fmla="*/ 4233 h 3240000"/>
              <a:gd name="connsiteX2" fmla="*/ 2768663 w 3315081"/>
              <a:gd name="connsiteY2" fmla="*/ 341535 h 3240000"/>
              <a:gd name="connsiteX3" fmla="*/ 3253400 w 3315081"/>
              <a:gd name="connsiteY3" fmla="*/ 1071562 h 3240000"/>
              <a:gd name="connsiteX4" fmla="*/ 3288440 w 3315081"/>
              <a:gd name="connsiteY4" fmla="*/ 1883348 h 3240000"/>
              <a:gd name="connsiteX5" fmla="*/ 3134984 w 3315081"/>
              <a:gd name="connsiteY5" fmla="*/ 2419024 h 3240000"/>
              <a:gd name="connsiteX6" fmla="*/ 3098101 w 3315081"/>
              <a:gd name="connsiteY6" fmla="*/ 2483916 h 3240000"/>
              <a:gd name="connsiteX7" fmla="*/ 3075044 w 3315081"/>
              <a:gd name="connsiteY7" fmla="*/ 2464892 h 3240000"/>
              <a:gd name="connsiteX8" fmla="*/ 2793253 w 3315081"/>
              <a:gd name="connsiteY8" fmla="*/ 2378817 h 3240000"/>
              <a:gd name="connsiteX9" fmla="*/ 2289253 w 3315081"/>
              <a:gd name="connsiteY9" fmla="*/ 2882817 h 3240000"/>
              <a:gd name="connsiteX10" fmla="*/ 2328860 w 3315081"/>
              <a:gd name="connsiteY10" fmla="*/ 3078997 h 3240000"/>
              <a:gd name="connsiteX11" fmla="*/ 2333819 w 3315081"/>
              <a:gd name="connsiteY11" fmla="*/ 3088133 h 3240000"/>
              <a:gd name="connsiteX12" fmla="*/ 2324806 w 3315081"/>
              <a:gd name="connsiteY12" fmla="*/ 3092271 h 3240000"/>
              <a:gd name="connsiteX13" fmla="*/ 1422335 w 3315081"/>
              <a:gd name="connsiteY13" fmla="*/ 3220578 h 3240000"/>
              <a:gd name="connsiteX14" fmla="*/ 520183 w 3315081"/>
              <a:gd name="connsiteY14" fmla="*/ 2741859 h 3240000"/>
              <a:gd name="connsiteX15" fmla="*/ 1051 w 3315081"/>
              <a:gd name="connsiteY15" fmla="*/ 1705849 h 3240000"/>
              <a:gd name="connsiteX16" fmla="*/ 403379 w 3315081"/>
              <a:gd name="connsiteY16" fmla="*/ 691947 h 3240000"/>
              <a:gd name="connsiteX17" fmla="*/ 999079 w 3315081"/>
              <a:gd name="connsiteY17" fmla="*/ 178008 h 3240000"/>
              <a:gd name="connsiteX18" fmla="*/ 1718842 w 3315081"/>
              <a:gd name="connsiteY18" fmla="*/ 132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15081" h="3240000">
                <a:moveTo>
                  <a:pt x="1718842" y="132"/>
                </a:moveTo>
                <a:cubicBezTo>
                  <a:pt x="1756726" y="-440"/>
                  <a:pt x="1794283" y="826"/>
                  <a:pt x="1831149" y="4233"/>
                </a:cubicBezTo>
                <a:cubicBezTo>
                  <a:pt x="2126080" y="31488"/>
                  <a:pt x="2496580" y="133473"/>
                  <a:pt x="2768663" y="341535"/>
                </a:cubicBezTo>
                <a:cubicBezTo>
                  <a:pt x="3040745" y="549597"/>
                  <a:pt x="3174557" y="816539"/>
                  <a:pt x="3253400" y="1071562"/>
                </a:cubicBezTo>
                <a:cubicBezTo>
                  <a:pt x="3332243" y="1326584"/>
                  <a:pt x="3325589" y="1625788"/>
                  <a:pt x="3288440" y="1883348"/>
                </a:cubicBezTo>
                <a:cubicBezTo>
                  <a:pt x="3260579" y="2076518"/>
                  <a:pt x="3218668" y="2256236"/>
                  <a:pt x="3134984" y="2419024"/>
                </a:cubicBezTo>
                <a:lnTo>
                  <a:pt x="3098101" y="2483916"/>
                </a:lnTo>
                <a:lnTo>
                  <a:pt x="3075044" y="2464892"/>
                </a:lnTo>
                <a:cubicBezTo>
                  <a:pt x="2994605" y="2410549"/>
                  <a:pt x="2897635" y="2378817"/>
                  <a:pt x="2793253" y="2378817"/>
                </a:cubicBezTo>
                <a:cubicBezTo>
                  <a:pt x="2514901" y="2378817"/>
                  <a:pt x="2289253" y="2604465"/>
                  <a:pt x="2289253" y="2882817"/>
                </a:cubicBezTo>
                <a:cubicBezTo>
                  <a:pt x="2289253" y="2952405"/>
                  <a:pt x="2303356" y="3018699"/>
                  <a:pt x="2328860" y="3078997"/>
                </a:cubicBezTo>
                <a:lnTo>
                  <a:pt x="2333819" y="3088133"/>
                </a:lnTo>
                <a:lnTo>
                  <a:pt x="2324806" y="3092271"/>
                </a:lnTo>
                <a:cubicBezTo>
                  <a:pt x="2076245" y="3196773"/>
                  <a:pt x="1723106" y="3278980"/>
                  <a:pt x="1422335" y="3220578"/>
                </a:cubicBezTo>
                <a:cubicBezTo>
                  <a:pt x="1121565" y="3162177"/>
                  <a:pt x="771664" y="2999181"/>
                  <a:pt x="520183" y="2741859"/>
                </a:cubicBezTo>
                <a:cubicBezTo>
                  <a:pt x="268702" y="2484538"/>
                  <a:pt x="20518" y="2047501"/>
                  <a:pt x="1051" y="1705849"/>
                </a:cubicBezTo>
                <a:cubicBezTo>
                  <a:pt x="-18417" y="1364198"/>
                  <a:pt x="237041" y="946587"/>
                  <a:pt x="403379" y="691947"/>
                </a:cubicBezTo>
                <a:cubicBezTo>
                  <a:pt x="569717" y="437307"/>
                  <a:pt x="801026" y="269266"/>
                  <a:pt x="999079" y="178008"/>
                </a:cubicBezTo>
                <a:cubicBezTo>
                  <a:pt x="1172376" y="98157"/>
                  <a:pt x="1453650" y="4132"/>
                  <a:pt x="1718842" y="13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6AB0503E-C2C7-9B54-11D0-FBFA61F72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8804" y="817200"/>
            <a:ext cx="10994612" cy="4401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400">
                <a:solidFill>
                  <a:srgbClr val="1D1D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333632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_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687D49-BC3A-2A21-2607-7F3367A24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1EC747-7669-4439-BEFB-BCFCAA3B013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511BF9B-3108-914A-2756-A53C1FB8B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02" y="1584000"/>
            <a:ext cx="1705064" cy="1695600"/>
          </a:xfrm>
          <a:prstGeom prst="rect">
            <a:avLst/>
          </a:prstGeom>
        </p:spPr>
      </p:pic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1C3123B3-A24B-A369-CE0C-9C9599D2CA5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346423" y="1684912"/>
            <a:ext cx="1499153" cy="1465200"/>
          </a:xfrm>
          <a:custGeom>
            <a:avLst/>
            <a:gdLst>
              <a:gd name="connsiteX0" fmla="*/ 1718842 w 3315081"/>
              <a:gd name="connsiteY0" fmla="*/ 132 h 3240000"/>
              <a:gd name="connsiteX1" fmla="*/ 1831149 w 3315081"/>
              <a:gd name="connsiteY1" fmla="*/ 4233 h 3240000"/>
              <a:gd name="connsiteX2" fmla="*/ 2768663 w 3315081"/>
              <a:gd name="connsiteY2" fmla="*/ 341535 h 3240000"/>
              <a:gd name="connsiteX3" fmla="*/ 3253400 w 3315081"/>
              <a:gd name="connsiteY3" fmla="*/ 1071562 h 3240000"/>
              <a:gd name="connsiteX4" fmla="*/ 3288440 w 3315081"/>
              <a:gd name="connsiteY4" fmla="*/ 1883348 h 3240000"/>
              <a:gd name="connsiteX5" fmla="*/ 3134984 w 3315081"/>
              <a:gd name="connsiteY5" fmla="*/ 2419024 h 3240000"/>
              <a:gd name="connsiteX6" fmla="*/ 3098101 w 3315081"/>
              <a:gd name="connsiteY6" fmla="*/ 2483916 h 3240000"/>
              <a:gd name="connsiteX7" fmla="*/ 3075044 w 3315081"/>
              <a:gd name="connsiteY7" fmla="*/ 2464892 h 3240000"/>
              <a:gd name="connsiteX8" fmla="*/ 2793253 w 3315081"/>
              <a:gd name="connsiteY8" fmla="*/ 2378817 h 3240000"/>
              <a:gd name="connsiteX9" fmla="*/ 2289253 w 3315081"/>
              <a:gd name="connsiteY9" fmla="*/ 2882817 h 3240000"/>
              <a:gd name="connsiteX10" fmla="*/ 2328860 w 3315081"/>
              <a:gd name="connsiteY10" fmla="*/ 3078997 h 3240000"/>
              <a:gd name="connsiteX11" fmla="*/ 2333819 w 3315081"/>
              <a:gd name="connsiteY11" fmla="*/ 3088133 h 3240000"/>
              <a:gd name="connsiteX12" fmla="*/ 2324806 w 3315081"/>
              <a:gd name="connsiteY12" fmla="*/ 3092271 h 3240000"/>
              <a:gd name="connsiteX13" fmla="*/ 1422335 w 3315081"/>
              <a:gd name="connsiteY13" fmla="*/ 3220578 h 3240000"/>
              <a:gd name="connsiteX14" fmla="*/ 520183 w 3315081"/>
              <a:gd name="connsiteY14" fmla="*/ 2741859 h 3240000"/>
              <a:gd name="connsiteX15" fmla="*/ 1051 w 3315081"/>
              <a:gd name="connsiteY15" fmla="*/ 1705849 h 3240000"/>
              <a:gd name="connsiteX16" fmla="*/ 403379 w 3315081"/>
              <a:gd name="connsiteY16" fmla="*/ 691947 h 3240000"/>
              <a:gd name="connsiteX17" fmla="*/ 999079 w 3315081"/>
              <a:gd name="connsiteY17" fmla="*/ 178008 h 3240000"/>
              <a:gd name="connsiteX18" fmla="*/ 1718842 w 3315081"/>
              <a:gd name="connsiteY18" fmla="*/ 132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15081" h="3240000">
                <a:moveTo>
                  <a:pt x="1718842" y="132"/>
                </a:moveTo>
                <a:cubicBezTo>
                  <a:pt x="1756726" y="-440"/>
                  <a:pt x="1794283" y="826"/>
                  <a:pt x="1831149" y="4233"/>
                </a:cubicBezTo>
                <a:cubicBezTo>
                  <a:pt x="2126080" y="31488"/>
                  <a:pt x="2496580" y="133473"/>
                  <a:pt x="2768663" y="341535"/>
                </a:cubicBezTo>
                <a:cubicBezTo>
                  <a:pt x="3040745" y="549597"/>
                  <a:pt x="3174557" y="816539"/>
                  <a:pt x="3253400" y="1071562"/>
                </a:cubicBezTo>
                <a:cubicBezTo>
                  <a:pt x="3332243" y="1326584"/>
                  <a:pt x="3325589" y="1625788"/>
                  <a:pt x="3288440" y="1883348"/>
                </a:cubicBezTo>
                <a:cubicBezTo>
                  <a:pt x="3260579" y="2076518"/>
                  <a:pt x="3218668" y="2256236"/>
                  <a:pt x="3134984" y="2419024"/>
                </a:cubicBezTo>
                <a:lnTo>
                  <a:pt x="3098101" y="2483916"/>
                </a:lnTo>
                <a:lnTo>
                  <a:pt x="3075044" y="2464892"/>
                </a:lnTo>
                <a:cubicBezTo>
                  <a:pt x="2994605" y="2410549"/>
                  <a:pt x="2897635" y="2378817"/>
                  <a:pt x="2793253" y="2378817"/>
                </a:cubicBezTo>
                <a:cubicBezTo>
                  <a:pt x="2514901" y="2378817"/>
                  <a:pt x="2289253" y="2604465"/>
                  <a:pt x="2289253" y="2882817"/>
                </a:cubicBezTo>
                <a:cubicBezTo>
                  <a:pt x="2289253" y="2952405"/>
                  <a:pt x="2303356" y="3018699"/>
                  <a:pt x="2328860" y="3078997"/>
                </a:cubicBezTo>
                <a:lnTo>
                  <a:pt x="2333819" y="3088133"/>
                </a:lnTo>
                <a:lnTo>
                  <a:pt x="2324806" y="3092271"/>
                </a:lnTo>
                <a:cubicBezTo>
                  <a:pt x="2076245" y="3196773"/>
                  <a:pt x="1723106" y="3278980"/>
                  <a:pt x="1422335" y="3220578"/>
                </a:cubicBezTo>
                <a:cubicBezTo>
                  <a:pt x="1121565" y="3162177"/>
                  <a:pt x="771664" y="2999181"/>
                  <a:pt x="520183" y="2741859"/>
                </a:cubicBezTo>
                <a:cubicBezTo>
                  <a:pt x="268702" y="2484538"/>
                  <a:pt x="20518" y="2047501"/>
                  <a:pt x="1051" y="1705849"/>
                </a:cubicBezTo>
                <a:cubicBezTo>
                  <a:pt x="-18417" y="1364198"/>
                  <a:pt x="237041" y="946587"/>
                  <a:pt x="403379" y="691947"/>
                </a:cubicBezTo>
                <a:cubicBezTo>
                  <a:pt x="569717" y="437307"/>
                  <a:pt x="801026" y="269266"/>
                  <a:pt x="999079" y="178008"/>
                </a:cubicBezTo>
                <a:cubicBezTo>
                  <a:pt x="1172376" y="98157"/>
                  <a:pt x="1453650" y="4132"/>
                  <a:pt x="1718842" y="13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6AB0503E-C2C7-9B54-11D0-FBFA61F72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8804" y="817200"/>
            <a:ext cx="10994612" cy="4401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400">
                <a:solidFill>
                  <a:srgbClr val="1D1D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Titel einfügen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D1CCFC6-6BF4-1F59-424D-260240A78E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456" y="3340573"/>
            <a:ext cx="288940" cy="31751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2FF959C-237F-CA91-F191-E8C1CD01FD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38" y="2074594"/>
            <a:ext cx="304816" cy="34291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7CBB89D8-E1A5-A742-DE52-CF77493C76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065" y="5933536"/>
            <a:ext cx="238137" cy="33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0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, Überschrift, Fließtext in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CEC47-5E2F-58DE-4385-F7EB3003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416" y="253140"/>
            <a:ext cx="602455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1EC747-7669-4439-BEFB-BCFCAA3B013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12712A-6656-40F8-C1B2-BAC244DE23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804" y="817200"/>
            <a:ext cx="10994612" cy="4401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400">
                <a:solidFill>
                  <a:srgbClr val="1D1D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Titel einfügen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EFB08A-E7D9-CC6B-363A-A8B03C4409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9192" y="3650734"/>
            <a:ext cx="3920017" cy="3754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200" b="1" spc="30" baseline="0">
                <a:solidFill>
                  <a:srgbClr val="1D1D1B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de-DE" dirty="0"/>
              <a:t>Überschrift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0A288A-5EB5-FEA9-D5BC-7DCD14B0E2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000" y="4374000"/>
            <a:ext cx="3921125" cy="1479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Fließtext</a:t>
            </a:r>
          </a:p>
        </p:txBody>
      </p:sp>
    </p:spTree>
    <p:extLst>
      <p:ext uri="{BB962C8B-B14F-4D97-AF65-F5344CB8AC3E}">
        <p14:creationId xmlns:p14="http://schemas.microsoft.com/office/powerpoint/2010/main" val="2154771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CEC47-5E2F-58DE-4385-F7EB3003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416" y="253140"/>
            <a:ext cx="602455" cy="365125"/>
          </a:xfrm>
          <a:prstGeom prst="rect">
            <a:avLst/>
          </a:prstGeom>
        </p:spPr>
        <p:txBody>
          <a:bodyPr/>
          <a:lstStyle/>
          <a:p>
            <a:fld id="{811EC747-7669-4439-BEFB-BCFCAA3B013D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12712A-6656-40F8-C1B2-BAC244DE23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804" y="817200"/>
            <a:ext cx="10994612" cy="44010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400">
                <a:solidFill>
                  <a:srgbClr val="1D1D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30819404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 und großer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CEC47-5E2F-58DE-4385-F7EB3003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416" y="253140"/>
            <a:ext cx="602455" cy="365125"/>
          </a:xfrm>
          <a:prstGeom prst="rect">
            <a:avLst/>
          </a:prstGeom>
        </p:spPr>
        <p:txBody>
          <a:bodyPr/>
          <a:lstStyle/>
          <a:p>
            <a:fld id="{811EC747-7669-4439-BEFB-BCFCAA3B013D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B82371-C914-F8A8-473A-0C9BBA6B5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7950" y="2389188"/>
            <a:ext cx="4641850" cy="1452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4000" spc="30" baseline="0">
                <a:solidFill>
                  <a:srgbClr val="1D1D1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D4E1944F-514C-DFEC-5CDD-77598528D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32" y="1542716"/>
            <a:ext cx="311166" cy="298465"/>
          </a:xfrm>
          <a:prstGeom prst="rect">
            <a:avLst/>
          </a:prstGeo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E14DEC95-C8FF-D328-F067-811F5EF90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59" y="5504121"/>
            <a:ext cx="314341" cy="22226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CCBE579-7B0C-B57E-7E12-A2E9898A4C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906" y="1994400"/>
            <a:ext cx="276239" cy="2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4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116CD17-7A63-479F-AAA5-C17A016314BF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AC37C28-5BE1-4ED8-B90C-5EBCBD073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978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4BE3ABB-B25C-D216-9005-68B3C3A69D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0"/>
            <a:ext cx="12192000" cy="685442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EFE0875-E137-2720-C7E6-56F210B3359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734" y="5407200"/>
            <a:ext cx="1571706" cy="1447874"/>
          </a:xfrm>
          <a:prstGeom prst="rect">
            <a:avLst/>
          </a:prstGeom>
        </p:spPr>
      </p:pic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3AEC11C7-7137-22E2-CD06-6B215397E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3416" y="253140"/>
            <a:ext cx="602455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D1D1D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fld id="{811EC747-7669-4439-BEFB-BCFCAA3B013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61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nodejs.org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wslabs/llrt" TargetMode="External"/><Relationship Id="rId11" Type="http://schemas.openxmlformats.org/officeDocument/2006/relationships/image" Target="../media/image12.svg"/><Relationship Id="rId5" Type="http://schemas.openxmlformats.org/officeDocument/2006/relationships/hyperlink" Target="https://bun.sh/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deno.com/" TargetMode="External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3BM9TB-8yA" TargetMode="External"/><Relationship Id="rId2" Type="http://schemas.openxmlformats.org/officeDocument/2006/relationships/hyperlink" Target="https://en.wikipedia.org/wiki/Deno_(software)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hyperlink" Target="https://deno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dejs/node/pull/53822" TargetMode="External"/><Relationship Id="rId2" Type="http://schemas.openxmlformats.org/officeDocument/2006/relationships/hyperlink" Target="https://nodejs.org/api/typescript.html#type-stripp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api/cli.html#--permiss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hiSpebach/denoexamples" TargetMode="External"/><Relationship Id="rId2" Type="http://schemas.openxmlformats.org/officeDocument/2006/relationships/hyperlink" Target="https://www.npmjs.com/package/deno-b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40CEFE59-E838-66C2-E80D-D476E61C8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70" y="3090041"/>
            <a:ext cx="10304342" cy="2167759"/>
          </a:xfrm>
        </p:spPr>
        <p:txBody>
          <a:bodyPr>
            <a:noAutofit/>
          </a:bodyPr>
          <a:lstStyle/>
          <a:p>
            <a:r>
              <a:rPr lang="en-US" sz="4000" dirty="0"/>
              <a:t>TypeScript everywhere: </a:t>
            </a:r>
            <a:r>
              <a:rPr lang="de-DE" sz="4000" dirty="0"/>
              <a:t>Eine neue Ära von Skripten mit </a:t>
            </a:r>
            <a:r>
              <a:rPr lang="de-DE" sz="4000" dirty="0" err="1"/>
              <a:t>Deno</a:t>
            </a:r>
            <a:endParaRPr lang="de-DE" sz="4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40557E-F2D9-6B58-DD08-17FC89782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4323" y="750405"/>
            <a:ext cx="2339636" cy="233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8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B864-C56C-DDAF-9876-215D061A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D57FB8F-7340-010C-D636-4CA3E8C3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70" y="3090041"/>
            <a:ext cx="10304342" cy="2167759"/>
          </a:xfrm>
        </p:spPr>
        <p:txBody>
          <a:bodyPr>
            <a:noAutofit/>
          </a:bodyPr>
          <a:lstStyle/>
          <a:p>
            <a:r>
              <a:rPr lang="en-US" sz="4000" dirty="0"/>
              <a:t>TypeScript everywhere: </a:t>
            </a:r>
            <a:r>
              <a:rPr lang="de-DE" sz="4000" dirty="0"/>
              <a:t>Eine neue Ära von Skripten mit </a:t>
            </a:r>
            <a:r>
              <a:rPr lang="de-DE" sz="4000" dirty="0" err="1"/>
              <a:t>Deno</a:t>
            </a:r>
            <a:r>
              <a:rPr lang="de-DE" sz="4000" dirty="0"/>
              <a:t> oder Node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439B739-CE3D-BCF8-8A6F-ADCD769E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8151"/>
            <a:ext cx="3825572" cy="13107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691F5D4-5B48-379A-5190-A2053044E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6286" y="750405"/>
            <a:ext cx="2339636" cy="233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B2D963-1707-44B6-0FC2-9E2FCCC5F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everywhere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76EA0-137B-D770-89A0-74A7044E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Web standards are most open and competitive</a:t>
            </a:r>
          </a:p>
          <a:p>
            <a:pPr lvl="1"/>
            <a:r>
              <a:rPr lang="en-US" dirty="0"/>
              <a:t>Lots of libraries, runtime engines</a:t>
            </a:r>
          </a:p>
          <a:p>
            <a:endParaRPr lang="en-US" dirty="0"/>
          </a:p>
          <a:p>
            <a:r>
              <a:rPr lang="en-US" dirty="0"/>
              <a:t>JavaScript/TypeScript ubiquitous</a:t>
            </a:r>
          </a:p>
          <a:p>
            <a:pPr lvl="1"/>
            <a:r>
              <a:rPr lang="en-US" dirty="0"/>
              <a:t>First app of many is written in JavaScript/TypeScript, HTML, CSS</a:t>
            </a:r>
          </a:p>
          <a:p>
            <a:pPr lvl="1"/>
            <a:r>
              <a:rPr lang="en-US" dirty="0"/>
              <a:t>Everybody knows JavaScript/TypeScript</a:t>
            </a:r>
          </a:p>
          <a:p>
            <a:pPr lvl="1"/>
            <a:r>
              <a:rPr lang="en-US" dirty="0"/>
              <a:t>Runs on every platform</a:t>
            </a:r>
          </a:p>
          <a:p>
            <a:endParaRPr lang="en-US" dirty="0"/>
          </a:p>
          <a:p>
            <a:r>
              <a:rPr lang="en-US" dirty="0"/>
              <a:t>This talk is especially about what possibilities TypeScript opens up for scripts</a:t>
            </a:r>
          </a:p>
          <a:p>
            <a:pPr lvl="1"/>
            <a:r>
              <a:rPr lang="en-US" dirty="0"/>
              <a:t>More to expand horizon and give ideas, not so much a deep dive</a:t>
            </a:r>
          </a:p>
        </p:txBody>
      </p:sp>
    </p:spTree>
    <p:extLst>
      <p:ext uri="{BB962C8B-B14F-4D97-AF65-F5344CB8AC3E}">
        <p14:creationId xmlns:p14="http://schemas.microsoft.com/office/powerpoint/2010/main" val="416381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E2164-7008-AE83-CC90-16965D0F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everywhere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F782A1-BC8D-794C-65EF-60A8DA8E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Runtime Environment Overview</a:t>
            </a:r>
          </a:p>
          <a:p>
            <a:r>
              <a:rPr lang="en-US" dirty="0"/>
              <a:t>Deno (with examples)</a:t>
            </a:r>
          </a:p>
          <a:p>
            <a:r>
              <a:rPr lang="en-US" dirty="0"/>
              <a:t>When to use Deno</a:t>
            </a:r>
          </a:p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</a:t>
            </a:r>
            <a:r>
              <a:rPr lang="en-US" dirty="0" err="1"/>
              <a:t>anguages</a:t>
            </a:r>
            <a:r>
              <a:rPr lang="en-US" dirty="0"/>
              <a:t> for scripts</a:t>
            </a:r>
          </a:p>
          <a:p>
            <a:pPr lvl="1"/>
            <a:r>
              <a:rPr lang="en-US" dirty="0"/>
              <a:t>Bash, Groovy, JavaScript, TypeScript</a:t>
            </a:r>
          </a:p>
          <a:p>
            <a:r>
              <a:rPr lang="en-US" dirty="0"/>
              <a:t>Node.js is catching up</a:t>
            </a:r>
          </a:p>
          <a:p>
            <a:pPr lvl="1"/>
            <a:r>
              <a:rPr lang="en-US" dirty="0"/>
              <a:t>Recent developments of Node.js</a:t>
            </a:r>
          </a:p>
          <a:p>
            <a:r>
              <a:rPr lang="de-DE" dirty="0"/>
              <a:t>Advantages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Deno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Scripts</a:t>
            </a:r>
            <a:endParaRPr lang="en-US" dirty="0"/>
          </a:p>
          <a:p>
            <a:r>
              <a:rPr lang="en-US" dirty="0"/>
              <a:t>Discussion and further examples</a:t>
            </a:r>
          </a:p>
        </p:txBody>
      </p:sp>
    </p:spTree>
    <p:extLst>
      <p:ext uri="{BB962C8B-B14F-4D97-AF65-F5344CB8AC3E}">
        <p14:creationId xmlns:p14="http://schemas.microsoft.com/office/powerpoint/2010/main" val="370468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AAF1D-AB93-5A42-F28D-6556F99B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877"/>
            <a:ext cx="10515600" cy="1325563"/>
          </a:xfrm>
        </p:spPr>
        <p:txBody>
          <a:bodyPr/>
          <a:lstStyle/>
          <a:p>
            <a:r>
              <a:rPr lang="de-DE" dirty="0"/>
              <a:t>JavaScript </a:t>
            </a:r>
            <a:r>
              <a:rPr lang="de-DE" dirty="0" err="1"/>
              <a:t>Runtime</a:t>
            </a:r>
            <a:r>
              <a:rPr lang="de-DE" dirty="0"/>
              <a:t> Environment </a:t>
            </a:r>
            <a:r>
              <a:rPr lang="de-DE" dirty="0" err="1"/>
              <a:t>Overview</a:t>
            </a:r>
            <a:endParaRPr lang="de-DE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1317F1E1-4DA3-9AB8-E108-83EE1FC90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8490435"/>
              </p:ext>
            </p:extLst>
          </p:nvPr>
        </p:nvGraphicFramePr>
        <p:xfrm>
          <a:off x="838199" y="1166650"/>
          <a:ext cx="11067920" cy="5079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6607">
                  <a:extLst>
                    <a:ext uri="{9D8B030D-6E8A-4147-A177-3AD203B41FA5}">
                      <a16:colId xmlns:a16="http://schemas.microsoft.com/office/drawing/2014/main" val="1441318523"/>
                    </a:ext>
                  </a:extLst>
                </a:gridCol>
                <a:gridCol w="2219784">
                  <a:extLst>
                    <a:ext uri="{9D8B030D-6E8A-4147-A177-3AD203B41FA5}">
                      <a16:colId xmlns:a16="http://schemas.microsoft.com/office/drawing/2014/main" val="132730515"/>
                    </a:ext>
                  </a:extLst>
                </a:gridCol>
                <a:gridCol w="2308072">
                  <a:extLst>
                    <a:ext uri="{9D8B030D-6E8A-4147-A177-3AD203B41FA5}">
                      <a16:colId xmlns:a16="http://schemas.microsoft.com/office/drawing/2014/main" val="1191670224"/>
                    </a:ext>
                  </a:extLst>
                </a:gridCol>
                <a:gridCol w="1759432">
                  <a:extLst>
                    <a:ext uri="{9D8B030D-6E8A-4147-A177-3AD203B41FA5}">
                      <a16:colId xmlns:a16="http://schemas.microsoft.com/office/drawing/2014/main" val="1504017208"/>
                    </a:ext>
                  </a:extLst>
                </a:gridCol>
                <a:gridCol w="1854025">
                  <a:extLst>
                    <a:ext uri="{9D8B030D-6E8A-4147-A177-3AD203B41FA5}">
                      <a16:colId xmlns:a16="http://schemas.microsoft.com/office/drawing/2014/main" val="1341435858"/>
                    </a:ext>
                  </a:extLst>
                </a:gridCol>
              </a:tblGrid>
              <a:tr h="40299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 err="1"/>
                        <a:t>Deno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Bun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AWS LLRT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279207"/>
                  </a:ext>
                </a:extLst>
              </a:tr>
              <a:tr h="402998">
                <a:tc>
                  <a:txBody>
                    <a:bodyPr/>
                    <a:lstStyle/>
                    <a:p>
                      <a:r>
                        <a:rPr lang="de-DE" dirty="0" err="1"/>
                        <a:t>Since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903730"/>
                  </a:ext>
                </a:extLst>
              </a:tr>
              <a:tr h="402998">
                <a:tc>
                  <a:txBody>
                    <a:bodyPr/>
                    <a:lstStyle/>
                    <a:p>
                      <a:r>
                        <a:rPr lang="de-DE" dirty="0" err="1"/>
                        <a:t>Runtime</a:t>
                      </a:r>
                      <a:r>
                        <a:rPr lang="de-DE" dirty="0"/>
                        <a:t>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JavaScriptCore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QuickJS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990416"/>
                  </a:ext>
                </a:extLst>
              </a:tr>
              <a:tr h="402998">
                <a:tc>
                  <a:txBody>
                    <a:bodyPr/>
                    <a:lstStyle/>
                    <a:p>
                      <a:r>
                        <a:rPr lang="de-DE" dirty="0" err="1"/>
                        <a:t>Written</a:t>
                      </a:r>
                      <a:r>
                        <a:rPr lang="de-DE" dirty="0"/>
                        <a:t>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JavaScript, C++, Python,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TypeScript</a:t>
                      </a:r>
                      <a:r>
                        <a:rPr lang="de-DE" dirty="0"/>
                        <a:t>, JavaScript, Rust,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Zig, C++, </a:t>
                      </a:r>
                      <a:r>
                        <a:rPr lang="de-DE" dirty="0" err="1"/>
                        <a:t>TypeScript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Rust, JavaScript, </a:t>
                      </a:r>
                      <a:r>
                        <a:rPr lang="de-DE" dirty="0" err="1"/>
                        <a:t>TypeScript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48602"/>
                  </a:ext>
                </a:extLst>
              </a:tr>
              <a:tr h="446747">
                <a:tc>
                  <a:txBody>
                    <a:bodyPr/>
                    <a:lstStyle/>
                    <a:p>
                      <a:r>
                        <a:rPr lang="de-DE" dirty="0"/>
                        <a:t>Runs </a:t>
                      </a:r>
                      <a:r>
                        <a:rPr lang="de-DE" dirty="0" err="1"/>
                        <a:t>TypeScript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directly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trike="sngStrike" dirty="0" err="1"/>
                        <a:t>no</a:t>
                      </a:r>
                      <a:r>
                        <a:rPr lang="de-DE" strike="sngStrike" dirty="0"/>
                        <a:t> </a:t>
                      </a:r>
                      <a:r>
                        <a:rPr lang="de-DE" sz="1400" strike="sngStrike" dirty="0"/>
                        <a:t>(</a:t>
                      </a:r>
                      <a:r>
                        <a:rPr lang="de-DE" sz="1400" strike="sng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experimental</a:t>
                      </a:r>
                      <a:r>
                        <a:rPr lang="de-DE" sz="1400" strike="sngStrike" dirty="0"/>
                        <a:t>)</a:t>
                      </a:r>
                    </a:p>
                    <a:p>
                      <a:r>
                        <a:rPr lang="de-DE" sz="1400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--experimental-strip-</a:t>
                      </a:r>
                      <a:r>
                        <a:rPr lang="de-DE" sz="1400" strike="noStrik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types</a:t>
                      </a:r>
                      <a:r>
                        <a:rPr lang="de-DE" sz="1400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400" strike="noStrik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  <a:r>
                        <a:rPr lang="de-DE" sz="1400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400" strike="noStrik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since</a:t>
                      </a:r>
                      <a:r>
                        <a:rPr lang="de-DE" sz="1400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Node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93475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r>
                        <a:rPr lang="de-DE" dirty="0" err="1"/>
                        <a:t>package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manager</a:t>
                      </a:r>
                      <a:r>
                        <a:rPr lang="de-DE" dirty="0"/>
                        <a:t> (</a:t>
                      </a:r>
                      <a:r>
                        <a:rPr lang="de-DE" dirty="0" err="1"/>
                        <a:t>npm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yarn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pnpm</a:t>
                      </a:r>
                      <a:r>
                        <a:rPr lang="de-DE" dirty="0"/>
                        <a:t>…) </a:t>
                      </a:r>
                      <a:r>
                        <a:rPr lang="de-DE" dirty="0" err="1"/>
                        <a:t>included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017495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r>
                        <a:rPr lang="de-DE" dirty="0"/>
                        <a:t>separate </a:t>
                      </a:r>
                      <a:r>
                        <a:rPr lang="de-DE" dirty="0" err="1"/>
                        <a:t>library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file</a:t>
                      </a:r>
                      <a:r>
                        <a:rPr lang="de-DE" dirty="0"/>
                        <a:t> </a:t>
                      </a:r>
                    </a:p>
                    <a:p>
                      <a:r>
                        <a:rPr lang="de-DE" dirty="0"/>
                        <a:t>(e.g. </a:t>
                      </a:r>
                      <a:r>
                        <a:rPr lang="de-DE" dirty="0" err="1"/>
                        <a:t>package.json</a:t>
                      </a:r>
                      <a:r>
                        <a:rPr lang="de-DE" dirty="0"/>
                        <a:t>) 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916999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r>
                        <a:rPr lang="de-DE" dirty="0" err="1"/>
                        <a:t>secure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trike="sngStrike" dirty="0" err="1"/>
                        <a:t>no</a:t>
                      </a:r>
                      <a:r>
                        <a:rPr lang="de-DE" dirty="0"/>
                        <a:t> </a:t>
                      </a:r>
                      <a:r>
                        <a:rPr lang="de-DE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Aptos Mono" panose="020B0009020202020204" pitchFamily="49" charset="0"/>
                        </a:rPr>
                        <a:t>--permission</a:t>
                      </a:r>
                      <a:r>
                        <a:rPr lang="de-DE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400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since</a:t>
                      </a:r>
                      <a:r>
                        <a:rPr lang="de-DE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Node 20, </a:t>
                      </a:r>
                      <a:r>
                        <a:rPr lang="de-DE" sz="1400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stable</a:t>
                      </a:r>
                      <a:r>
                        <a:rPr lang="de-DE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sz="1400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since</a:t>
                      </a:r>
                      <a:r>
                        <a:rPr lang="de-DE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r>
                        <a:rPr lang="de-D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dirty="0"/>
                        <a:t>(</a:t>
                      </a:r>
                      <a:r>
                        <a:rPr lang="de-DE" dirty="0" err="1"/>
                        <a:t>by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default</a:t>
                      </a:r>
                      <a:r>
                        <a:rPr lang="de-DE" dirty="0"/>
                        <a:t>)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r>
                        <a:rPr lang="de-DE" dirty="0"/>
                        <a:t> (different </a:t>
                      </a:r>
                      <a:r>
                        <a:rPr lang="de-DE" dirty="0" err="1"/>
                        <a:t>builds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planned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399163"/>
                  </a:ext>
                </a:extLst>
              </a:tr>
              <a:tr h="430965">
                <a:tc>
                  <a:txBody>
                    <a:bodyPr/>
                    <a:lstStyle/>
                    <a:p>
                      <a:r>
                        <a:rPr lang="de-DE" dirty="0"/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linkClick r:id="rId3"/>
                        </a:rPr>
                        <a:t>https://nodejs.org/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linkClick r:id="rId4"/>
                        </a:rPr>
                        <a:t>https://deno.com/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hlinkClick r:id="rId5"/>
                        </a:rPr>
                        <a:t>https://bun.sh/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>
                          <a:hlinkClick r:id="rId6"/>
                        </a:rPr>
                        <a:t>https://github.com/awslabs/llrt</a:t>
                      </a:r>
                      <a:r>
                        <a:rPr lang="de-DE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829599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1C30403-AC63-FC66-D541-52C4884DC04F}"/>
              </a:ext>
            </a:extLst>
          </p:cNvPr>
          <p:cNvSpPr txBox="1"/>
          <p:nvPr/>
        </p:nvSpPr>
        <p:spPr>
          <a:xfrm>
            <a:off x="592784" y="6052782"/>
            <a:ext cx="11225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These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servers</a:t>
            </a:r>
            <a:r>
              <a:rPr lang="de-DE" dirty="0"/>
              <a:t>, in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:</a:t>
            </a:r>
          </a:p>
          <a:p>
            <a:r>
              <a:rPr lang="de-DE" dirty="0"/>
              <a:t>Chrome (V8), Edge (V8), Firefox (</a:t>
            </a:r>
            <a:r>
              <a:rPr lang="de-DE" dirty="0" err="1"/>
              <a:t>SpiderMonkey</a:t>
            </a:r>
            <a:r>
              <a:rPr lang="de-DE" dirty="0"/>
              <a:t>), Safari (</a:t>
            </a:r>
            <a:r>
              <a:rPr lang="de-DE" dirty="0" err="1"/>
              <a:t>JavaScriptCore</a:t>
            </a:r>
            <a:r>
              <a:rPr lang="de-DE" dirty="0"/>
              <a:t>), </a:t>
            </a:r>
            <a:r>
              <a:rPr lang="de-DE" dirty="0" err="1"/>
              <a:t>React</a:t>
            </a:r>
            <a:r>
              <a:rPr lang="de-DE" dirty="0"/>
              <a:t> Native (Hermes), …</a:t>
            </a:r>
          </a:p>
        </p:txBody>
      </p:sp>
      <p:pic>
        <p:nvPicPr>
          <p:cNvPr id="3" name="Grafik 2" descr="Ein Bild, das Screenshot, Grafiken, Design, Pixel enthält.&#10;&#10;Automatisch generierte Beschreibung">
            <a:extLst>
              <a:ext uri="{FF2B5EF4-FFF2-40B4-BE49-F238E27FC236}">
                <a16:creationId xmlns:a16="http://schemas.microsoft.com/office/drawing/2014/main" id="{6B9431A7-E776-861B-6DAD-543298DD6D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467" y="1008866"/>
            <a:ext cx="914097" cy="563693"/>
          </a:xfrm>
          <a:prstGeom prst="rect">
            <a:avLst/>
          </a:prstGeom>
        </p:spPr>
      </p:pic>
      <p:pic>
        <p:nvPicPr>
          <p:cNvPr id="8" name="Grafik 7" descr="Ein Bild, das Clipart, Lächeln, Cartoon, Smiley enthält.&#10;&#10;Automatisch generierte Beschreibung">
            <a:extLst>
              <a:ext uri="{FF2B5EF4-FFF2-40B4-BE49-F238E27FC236}">
                <a16:creationId xmlns:a16="http://schemas.microsoft.com/office/drawing/2014/main" id="{8059AAF2-2630-C2B6-A80A-8146A05906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43" y="965193"/>
            <a:ext cx="756568" cy="75656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4E962FE-B832-9009-2D3A-C42726C68A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330" y="1025181"/>
            <a:ext cx="535501" cy="5355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5193A38-2581-11D2-D123-0D1E8BF763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88675" y="965193"/>
            <a:ext cx="756569" cy="7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3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74DD1-8D48-B37A-E66C-2C4FD578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Deno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13BB71-CE36-DE26-02AE-F251AAA5E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Like Node.js: </a:t>
            </a:r>
            <a:r>
              <a:rPr lang="de-DE" dirty="0" err="1"/>
              <a:t>Runtime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JavaScript </a:t>
            </a:r>
            <a:r>
              <a:rPr lang="de-DE" b="1" dirty="0"/>
              <a:t>and </a:t>
            </a:r>
            <a:r>
              <a:rPr lang="de-DE" b="1" dirty="0" err="1"/>
              <a:t>TypeScript</a:t>
            </a:r>
            <a:endParaRPr lang="de-DE" b="1" dirty="0"/>
          </a:p>
          <a:p>
            <a:r>
              <a:rPr lang="de-DE" dirty="0"/>
              <a:t>Also like Node.js: </a:t>
            </a:r>
            <a:r>
              <a:rPr lang="de-DE" dirty="0" err="1"/>
              <a:t>co-created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Ryan Dahl</a:t>
            </a:r>
          </a:p>
          <a:p>
            <a:r>
              <a:rPr lang="de-DE" dirty="0"/>
              <a:t>Key Takeaways:</a:t>
            </a:r>
          </a:p>
          <a:p>
            <a:pPr marL="457200" lvl="1" indent="0">
              <a:buNone/>
            </a:pPr>
            <a:r>
              <a:rPr lang="de-DE" sz="2000" dirty="0"/>
              <a:t>2. </a:t>
            </a:r>
            <a:r>
              <a:rPr lang="en-US" sz="2000" dirty="0"/>
              <a:t>URLs for loading dependencies</a:t>
            </a:r>
            <a:r>
              <a:rPr lang="en-US" sz="1400" dirty="0"/>
              <a:t>.</a:t>
            </a:r>
          </a:p>
          <a:p>
            <a:pPr marL="457200" lvl="1" indent="0">
              <a:buNone/>
            </a:pPr>
            <a:r>
              <a:rPr lang="en-US" sz="2000" dirty="0"/>
              <a:t>3. Does not require a package manager like </a:t>
            </a:r>
            <a:r>
              <a:rPr lang="en-US" sz="2000" dirty="0" err="1"/>
              <a:t>npm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r>
              <a:rPr lang="en-US" sz="2000" dirty="0"/>
              <a:t>4. Runs TypeScript out of the box.</a:t>
            </a:r>
            <a:endParaRPr lang="en-US" sz="1400" dirty="0"/>
          </a:p>
          <a:p>
            <a:pPr marL="457200" lvl="1" indent="0">
              <a:buNone/>
            </a:pPr>
            <a:r>
              <a:rPr lang="en-US" sz="2000" dirty="0"/>
              <a:t>6. Restricts file system and network access by default to run sandboxed code.</a:t>
            </a:r>
          </a:p>
          <a:p>
            <a:pPr marL="457200" lvl="1" indent="0">
              <a:buNone/>
            </a:pPr>
            <a:r>
              <a:rPr lang="en-US" sz="1600" dirty="0"/>
              <a:t>See </a:t>
            </a:r>
            <a:r>
              <a:rPr lang="en-US" sz="1600" dirty="0">
                <a:hlinkClick r:id="rId2"/>
              </a:rPr>
              <a:t>https://en.wikipedia.org/wiki/Deno_(software)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/>
              <a:t>10 Things I Regret About Node.js - Ryan Dahl - </a:t>
            </a:r>
            <a:r>
              <a:rPr lang="en-US" sz="1600" dirty="0" err="1"/>
              <a:t>JSConf</a:t>
            </a:r>
            <a:r>
              <a:rPr lang="en-US" sz="1600" dirty="0"/>
              <a:t> EU</a:t>
            </a:r>
          </a:p>
          <a:p>
            <a:pPr marL="457200" lvl="1" indent="0">
              <a:buNone/>
            </a:pPr>
            <a:r>
              <a:rPr lang="en-US" sz="1600" dirty="0"/>
              <a:t>	 </a:t>
            </a:r>
            <a:r>
              <a:rPr lang="de-DE" sz="1600" dirty="0">
                <a:hlinkClick r:id="rId3"/>
              </a:rPr>
              <a:t>https://www.youtube.com/watch?v=M3BM9TB-8yA</a:t>
            </a:r>
            <a:r>
              <a:rPr lang="en-US" sz="1600" dirty="0"/>
              <a:t> </a:t>
            </a:r>
            <a:endParaRPr lang="de-DE" sz="1600" dirty="0"/>
          </a:p>
          <a:p>
            <a:r>
              <a:rPr lang="de-DE" dirty="0">
                <a:hlinkClick r:id="rId4"/>
              </a:rPr>
              <a:t>https://deno.com/</a:t>
            </a:r>
            <a:endParaRPr lang="de-DE" dirty="0"/>
          </a:p>
        </p:txBody>
      </p:sp>
      <p:pic>
        <p:nvPicPr>
          <p:cNvPr id="17" name="Grafik 16" descr="Ein Bild, das Clipart, Grafiken, Entwurf, Design enthält.&#10;&#10;Automatisch generierte Beschreibung">
            <a:extLst>
              <a:ext uri="{FF2B5EF4-FFF2-40B4-BE49-F238E27FC236}">
                <a16:creationId xmlns:a16="http://schemas.microsoft.com/office/drawing/2014/main" id="{26FD88EB-8813-7596-6A7E-24C82CEC0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432" y="204165"/>
            <a:ext cx="1553991" cy="1553991"/>
          </a:xfrm>
          <a:prstGeom prst="rect">
            <a:avLst/>
          </a:prstGeom>
        </p:spPr>
      </p:pic>
      <p:pic>
        <p:nvPicPr>
          <p:cNvPr id="5" name="Grafik 4" descr="Ein Bild, das Kleidung, Person, Wand, Menschliches Gesicht enthält.&#10;&#10;Automatisch generierte Beschreibung">
            <a:extLst>
              <a:ext uri="{FF2B5EF4-FFF2-40B4-BE49-F238E27FC236}">
                <a16:creationId xmlns:a16="http://schemas.microsoft.com/office/drawing/2014/main" id="{61C4272F-01B6-2CA6-D0E5-87D9486D39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596" y="342593"/>
            <a:ext cx="1977376" cy="296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1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6F25CC-1600-A1DF-92ED-8BBBFA15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Deno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BB5A20-BAA6-3FD5-3D8B-B7F010CC0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Most </a:t>
            </a:r>
            <a:r>
              <a:rPr lang="de-DE" i="1" dirty="0" err="1">
                <a:latin typeface="Aptos Mono" panose="020B0009020202020204" pitchFamily="49" charset="0"/>
              </a:rPr>
              <a:t>npm</a:t>
            </a:r>
            <a:r>
              <a:rPr lang="de-DE" i="1" dirty="0">
                <a:latin typeface="Aptos Mono" panose="020B0009020202020204" pitchFamily="49" charset="0"/>
              </a:rPr>
              <a:t>:</a:t>
            </a:r>
            <a:r>
              <a:rPr lang="de-DE" dirty="0"/>
              <a:t> and </a:t>
            </a:r>
            <a:r>
              <a:rPr lang="de-DE" i="1" dirty="0" err="1">
                <a:latin typeface="Aptos Mono" panose="020B0009020202020204" pitchFamily="49" charset="0"/>
              </a:rPr>
              <a:t>node</a:t>
            </a:r>
            <a:r>
              <a:rPr lang="de-DE" i="1" dirty="0">
                <a:latin typeface="Aptos Mono" panose="020B0009020202020204" pitchFamily="49" charset="0"/>
              </a:rPr>
              <a:t>: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out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box</a:t>
            </a:r>
          </a:p>
          <a:p>
            <a:endParaRPr lang="de-DE" dirty="0"/>
          </a:p>
          <a:p>
            <a:r>
              <a:rPr lang="de-DE" dirty="0"/>
              <a:t>Not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bigger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yet</a:t>
            </a:r>
            <a:endParaRPr lang="de-DE" dirty="0"/>
          </a:p>
          <a:p>
            <a:pPr lvl="1"/>
            <a:r>
              <a:rPr lang="de-DE" dirty="0"/>
              <a:t>Maybe Node.js </a:t>
            </a:r>
            <a:r>
              <a:rPr lang="de-DE" dirty="0" err="1"/>
              <a:t>catches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and </a:t>
            </a:r>
            <a:r>
              <a:rPr lang="de-DE" dirty="0" err="1"/>
              <a:t>supports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Deno</a:t>
            </a:r>
            <a:endParaRPr lang="de-DE" dirty="0"/>
          </a:p>
          <a:p>
            <a:endParaRPr lang="de-DE" dirty="0"/>
          </a:p>
          <a:p>
            <a:r>
              <a:rPr lang="de-DE" dirty="0"/>
              <a:t>Use </a:t>
            </a:r>
            <a:r>
              <a:rPr lang="de-DE" dirty="0" err="1"/>
              <a:t>Deno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Scripts (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bash </a:t>
            </a:r>
            <a:r>
              <a:rPr lang="de-DE" dirty="0" err="1"/>
              <a:t>or</a:t>
            </a:r>
            <a:r>
              <a:rPr lang="de-DE" dirty="0"/>
              <a:t> JavaScript)</a:t>
            </a:r>
          </a:p>
          <a:p>
            <a:pPr lvl="1"/>
            <a:r>
              <a:rPr lang="de-DE" dirty="0"/>
              <a:t>Run maintainable </a:t>
            </a:r>
            <a:r>
              <a:rPr lang="de-DE" dirty="0" err="1"/>
              <a:t>TypeScript</a:t>
            </a:r>
            <a:r>
              <a:rPr lang="de-DE" dirty="0"/>
              <a:t> </a:t>
            </a:r>
            <a:r>
              <a:rPr lang="de-DE" dirty="0" err="1"/>
              <a:t>directly</a:t>
            </a:r>
            <a:endParaRPr lang="de-DE" dirty="0"/>
          </a:p>
          <a:p>
            <a:pPr lvl="1"/>
            <a:r>
              <a:rPr lang="de-DE" dirty="0"/>
              <a:t>#! </a:t>
            </a:r>
            <a:r>
              <a:rPr lang="de-DE" dirty="0" err="1"/>
              <a:t>deno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and </a:t>
            </a:r>
            <a:r>
              <a:rPr lang="de-DE" dirty="0" err="1"/>
              <a:t>mark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executable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080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E6DD1-AA91-7830-68E9-291BE608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properties for scripts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21F3C7-28BF-8D2C-0806-165CC37F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/</a:t>
            </a:r>
            <a:r>
              <a:rPr lang="de-DE" dirty="0" err="1"/>
              <a:t>compile</a:t>
            </a:r>
            <a:r>
              <a:rPr lang="de-DE" dirty="0"/>
              <a:t> </a:t>
            </a:r>
            <a:r>
              <a:rPr lang="de-DE" dirty="0" err="1"/>
              <a:t>steps</a:t>
            </a:r>
            <a:endParaRPr lang="en-US" dirty="0"/>
          </a:p>
          <a:p>
            <a:r>
              <a:rPr lang="en-US" dirty="0"/>
              <a:t>Self contained</a:t>
            </a:r>
          </a:p>
          <a:p>
            <a:r>
              <a:rPr lang="en-US" dirty="0"/>
              <a:t>Execute like an executable file</a:t>
            </a:r>
          </a:p>
        </p:txBody>
      </p:sp>
    </p:spTree>
    <p:extLst>
      <p:ext uri="{BB962C8B-B14F-4D97-AF65-F5344CB8AC3E}">
        <p14:creationId xmlns:p14="http://schemas.microsoft.com/office/powerpoint/2010/main" val="336619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EF4D7-6EA1-9640-9A5C-B53C4FCF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</a:t>
            </a:r>
            <a:r>
              <a:rPr lang="en-US" dirty="0" err="1"/>
              <a:t>anguages</a:t>
            </a:r>
            <a:r>
              <a:rPr lang="en-US" dirty="0"/>
              <a:t> for scripts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0793C18-EE9E-A8C4-160B-0883A95A1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608932"/>
              </p:ext>
            </p:extLst>
          </p:nvPr>
        </p:nvGraphicFramePr>
        <p:xfrm>
          <a:off x="416210" y="2040036"/>
          <a:ext cx="11351172" cy="3721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5641">
                  <a:extLst>
                    <a:ext uri="{9D8B030D-6E8A-4147-A177-3AD203B41FA5}">
                      <a16:colId xmlns:a16="http://schemas.microsoft.com/office/drawing/2014/main" val="1888524353"/>
                    </a:ext>
                  </a:extLst>
                </a:gridCol>
                <a:gridCol w="1682267">
                  <a:extLst>
                    <a:ext uri="{9D8B030D-6E8A-4147-A177-3AD203B41FA5}">
                      <a16:colId xmlns:a16="http://schemas.microsoft.com/office/drawing/2014/main" val="2556044872"/>
                    </a:ext>
                  </a:extLst>
                </a:gridCol>
                <a:gridCol w="2281721">
                  <a:extLst>
                    <a:ext uri="{9D8B030D-6E8A-4147-A177-3AD203B41FA5}">
                      <a16:colId xmlns:a16="http://schemas.microsoft.com/office/drawing/2014/main" val="458421929"/>
                    </a:ext>
                  </a:extLst>
                </a:gridCol>
                <a:gridCol w="1835833">
                  <a:extLst>
                    <a:ext uri="{9D8B030D-6E8A-4147-A177-3AD203B41FA5}">
                      <a16:colId xmlns:a16="http://schemas.microsoft.com/office/drawing/2014/main" val="234167502"/>
                    </a:ext>
                  </a:extLst>
                </a:gridCol>
                <a:gridCol w="2051794">
                  <a:extLst>
                    <a:ext uri="{9D8B030D-6E8A-4147-A177-3AD203B41FA5}">
                      <a16:colId xmlns:a16="http://schemas.microsoft.com/office/drawing/2014/main" val="1076391996"/>
                    </a:ext>
                  </a:extLst>
                </a:gridCol>
                <a:gridCol w="2123916">
                  <a:extLst>
                    <a:ext uri="{9D8B030D-6E8A-4147-A177-3AD203B41FA5}">
                      <a16:colId xmlns:a16="http://schemas.microsoft.com/office/drawing/2014/main" val="3192015722"/>
                    </a:ext>
                  </a:extLst>
                </a:gridCol>
              </a:tblGrid>
              <a:tr h="42840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Groovy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JavaScript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/>
                        <a:t>TypeScript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22700"/>
                  </a:ext>
                </a:extLst>
              </a:tr>
              <a:tr h="428408">
                <a:tc>
                  <a:txBody>
                    <a:bodyPr/>
                    <a:lstStyle/>
                    <a:p>
                      <a:r>
                        <a:rPr lang="de-DE" dirty="0"/>
                        <a:t>Run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bash script.sh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groovy </a:t>
                      </a:r>
                      <a:r>
                        <a:rPr lang="de-DE" dirty="0" err="1"/>
                        <a:t>script.groovy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node</a:t>
                      </a:r>
                      <a:r>
                        <a:rPr lang="de-DE" dirty="0"/>
                        <a:t> script.js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ts-node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script.ts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deno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run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script.ts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133946"/>
                  </a:ext>
                </a:extLst>
              </a:tr>
              <a:tr h="4284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Library </a:t>
                      </a:r>
                      <a:r>
                        <a:rPr lang="de-DE" dirty="0" err="1"/>
                        <a:t>managment</a:t>
                      </a:r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dirty="0" err="1"/>
                        <a:t>npm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yarn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pnpm</a:t>
                      </a:r>
                      <a:r>
                        <a:rPr lang="de-DE" dirty="0"/>
                        <a:t>, 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not </a:t>
                      </a:r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needed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582298"/>
                  </a:ext>
                </a:extLst>
              </a:tr>
              <a:tr h="739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Library </a:t>
                      </a:r>
                      <a:r>
                        <a:rPr lang="de-DE" dirty="0" err="1"/>
                        <a:t>versions</a:t>
                      </a:r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de-DE" dirty="0" err="1"/>
                        <a:t>package.json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node_modules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Part </a:t>
                      </a:r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of</a:t>
                      </a:r>
                      <a:r>
                        <a:rPr lang="de-D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import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deno.lock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39714"/>
                  </a:ext>
                </a:extLst>
              </a:tr>
              <a:tr h="428408">
                <a:tc>
                  <a:txBody>
                    <a:bodyPr/>
                    <a:lstStyle/>
                    <a:p>
                      <a:r>
                        <a:rPr lang="de-DE" dirty="0"/>
                        <a:t>Type </a:t>
                      </a:r>
                      <a:r>
                        <a:rPr lang="de-DE" dirty="0" err="1"/>
                        <a:t>safety</a:t>
                      </a:r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no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422383"/>
                  </a:ext>
                </a:extLst>
              </a:tr>
              <a:tr h="1056349">
                <a:tc>
                  <a:txBody>
                    <a:bodyPr/>
                    <a:lstStyle/>
                    <a:p>
                      <a:r>
                        <a:rPr lang="de-DE"/>
                        <a:t>Sandboxing / secure by default</a:t>
                      </a:r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no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de-D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99643067"/>
                  </a:ext>
                </a:extLst>
              </a:tr>
            </a:tbl>
          </a:graphicData>
        </a:graphic>
      </p:graphicFrame>
      <p:pic>
        <p:nvPicPr>
          <p:cNvPr id="8" name="Grafik 7" descr="Ein Bild, das Logo, Schrift, Grafiken, Symbol enthält.&#10;&#10;Automatisch generierte Beschreibung">
            <a:extLst>
              <a:ext uri="{FF2B5EF4-FFF2-40B4-BE49-F238E27FC236}">
                <a16:creationId xmlns:a16="http://schemas.microsoft.com/office/drawing/2014/main" id="{C58F9A03-C737-70C6-A745-342DF353B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234" y="1547254"/>
            <a:ext cx="1167115" cy="492782"/>
          </a:xfrm>
          <a:prstGeom prst="rect">
            <a:avLst/>
          </a:prstGeom>
        </p:spPr>
      </p:pic>
      <p:pic>
        <p:nvPicPr>
          <p:cNvPr id="10" name="Grafik 9" descr="Ein Bild, das Grafiken, Schrift, Grafikdesign, Clipart enthält.&#10;&#10;Automatisch generierte Beschreibung">
            <a:extLst>
              <a:ext uri="{FF2B5EF4-FFF2-40B4-BE49-F238E27FC236}">
                <a16:creationId xmlns:a16="http://schemas.microsoft.com/office/drawing/2014/main" id="{8941BB36-5ACB-342B-77B1-400C9EA61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826" y="1396062"/>
            <a:ext cx="1420018" cy="710009"/>
          </a:xfrm>
          <a:prstGeom prst="rect">
            <a:avLst/>
          </a:prstGeom>
        </p:spPr>
      </p:pic>
      <p:pic>
        <p:nvPicPr>
          <p:cNvPr id="12" name="Grafik 11" descr="Ein Bild, das Screenshot, Grafiken, Design, Pixel enthält.&#10;&#10;Automatisch generierte Beschreibung">
            <a:extLst>
              <a:ext uri="{FF2B5EF4-FFF2-40B4-BE49-F238E27FC236}">
                <a16:creationId xmlns:a16="http://schemas.microsoft.com/office/drawing/2014/main" id="{61771EC1-C658-5AF8-8497-474BED5E2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719" y="1379377"/>
            <a:ext cx="1151366" cy="71000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C9BDB1B-E11B-EDB4-8274-01E9D207C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4072" y="1406789"/>
            <a:ext cx="1686870" cy="56779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2735387-B225-56A5-0B78-96FAED69F5E5}"/>
              </a:ext>
            </a:extLst>
          </p:cNvPr>
          <p:cNvSpPr txBox="1"/>
          <p:nvPr/>
        </p:nvSpPr>
        <p:spPr>
          <a:xfrm>
            <a:off x="698740" y="5846544"/>
            <a:ext cx="10308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* Node.js </a:t>
            </a:r>
            <a:r>
              <a:rPr lang="de-DE" dirty="0" err="1"/>
              <a:t>caught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and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23 --experimental-strip-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default</a:t>
            </a:r>
            <a:r>
              <a:rPr lang="de-DE" dirty="0"/>
              <a:t> and Node.js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TypeScript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775A801-96D8-2217-1353-B4EB4B8CF7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0412" y="1144029"/>
            <a:ext cx="1093317" cy="109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4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843C6-4DDE-2B00-4E1B-6900887E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is catching 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99063B-8A9F-0CB5-123D-40DCE879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6102"/>
            <a:ext cx="10515600" cy="483055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TypeScript support</a:t>
            </a:r>
          </a:p>
          <a:p>
            <a:pPr lvl="1"/>
            <a:r>
              <a:rPr lang="en-US" dirty="0"/>
              <a:t>Node.js added </a:t>
            </a:r>
            <a:r>
              <a:rPr lang="en-US" dirty="0">
                <a:latin typeface="Aptos Mono" panose="020B0009020202020204" pitchFamily="49" charset="0"/>
              </a:rPr>
              <a:t>--experimental-strip-types</a:t>
            </a:r>
          </a:p>
          <a:p>
            <a:pPr lvl="1"/>
            <a:r>
              <a:rPr lang="en-US" dirty="0"/>
              <a:t>Experimental since </a:t>
            </a:r>
            <a:r>
              <a:rPr lang="de-DE" dirty="0"/>
              <a:t>v22.6.0 (August 2024)</a:t>
            </a:r>
          </a:p>
          <a:p>
            <a:pPr lvl="1"/>
            <a:r>
              <a:rPr lang="de-DE" dirty="0" err="1"/>
              <a:t>Stable</a:t>
            </a:r>
            <a:r>
              <a:rPr lang="de-DE" dirty="0"/>
              <a:t> and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since</a:t>
            </a:r>
            <a:r>
              <a:rPr lang="de-DE" dirty="0"/>
              <a:t> v23.6.0 (</a:t>
            </a:r>
            <a:r>
              <a:rPr lang="de-DE" dirty="0" err="1"/>
              <a:t>January</a:t>
            </a:r>
            <a:r>
              <a:rPr lang="de-DE" dirty="0"/>
              <a:t> 2025)</a:t>
            </a:r>
          </a:p>
          <a:p>
            <a:pPr lvl="2"/>
            <a:r>
              <a:rPr lang="de-DE" dirty="0">
                <a:latin typeface="Aptos Mono" panose="020B0009020202020204" pitchFamily="49" charset="0"/>
              </a:rPr>
              <a:t>--</a:t>
            </a:r>
            <a:r>
              <a:rPr lang="de-DE" dirty="0" err="1">
                <a:latin typeface="Aptos Mono" panose="020B0009020202020204" pitchFamily="49" charset="0"/>
              </a:rPr>
              <a:t>no</a:t>
            </a:r>
            <a:r>
              <a:rPr lang="de-DE" dirty="0">
                <a:latin typeface="Aptos Mono" panose="020B0009020202020204" pitchFamily="49" charset="0"/>
              </a:rPr>
              <a:t>-experimental-strip-</a:t>
            </a:r>
            <a:r>
              <a:rPr lang="de-DE" dirty="0" err="1">
                <a:latin typeface="Aptos Mono" panose="020B0009020202020204" pitchFamily="49" charset="0"/>
              </a:rPr>
              <a:t>types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prevent</a:t>
            </a:r>
            <a:r>
              <a:rPr lang="de-DE" dirty="0"/>
              <a:t> type </a:t>
            </a:r>
            <a:r>
              <a:rPr lang="de-DE" dirty="0" err="1"/>
              <a:t>stripping</a:t>
            </a:r>
            <a:endParaRPr lang="de-DE" dirty="0"/>
          </a:p>
          <a:p>
            <a:pPr lvl="1"/>
            <a:r>
              <a:rPr lang="en-US" dirty="0"/>
              <a:t>Replaces TypeScript syntax with whitespaces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latin typeface="Aptos Mono" panose="020B0009020202020204" pitchFamily="49" charset="0"/>
              </a:rPr>
              <a:t>--experimental-transform-types</a:t>
            </a:r>
            <a:r>
              <a:rPr lang="en-US" dirty="0"/>
              <a:t> for TypeScript-only syntax like </a:t>
            </a:r>
            <a:r>
              <a:rPr lang="en-US" dirty="0" err="1"/>
              <a:t>enums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linkClick r:id="rId2"/>
              </a:rPr>
              <a:t>https://nodejs.org/api/typescript.html#type-stripping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sz="2800" dirty="0"/>
              <a:t>Node.js added </a:t>
            </a:r>
            <a:r>
              <a:rPr lang="en-US" sz="2800" dirty="0">
                <a:latin typeface="Aptos Mono" panose="020F0502020204030204" pitchFamily="49" charset="0"/>
              </a:rPr>
              <a:t>--experimental-network-imports</a:t>
            </a:r>
          </a:p>
          <a:p>
            <a:pPr lvl="1"/>
            <a:r>
              <a:rPr lang="en-US" dirty="0"/>
              <a:t>But removed it in v22.6.0 (August 2024)</a:t>
            </a:r>
          </a:p>
          <a:p>
            <a:pPr lvl="1"/>
            <a:r>
              <a:rPr lang="en-US" dirty="0">
                <a:hlinkClick r:id="rId3"/>
              </a:rPr>
              <a:t>https://github.com/nodejs/node/pull/53822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Security</a:t>
            </a:r>
          </a:p>
          <a:p>
            <a:pPr lvl="1"/>
            <a:r>
              <a:rPr lang="en-US" dirty="0"/>
              <a:t>Node.js has now a Permission Model</a:t>
            </a:r>
          </a:p>
          <a:p>
            <a:pPr lvl="1"/>
            <a:r>
              <a:rPr lang="en-US" dirty="0"/>
              <a:t>Experimental since v20.0.0 (</a:t>
            </a:r>
            <a:r>
              <a:rPr lang="de-DE" dirty="0"/>
              <a:t>April 2023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Stable since v23.5.0 (</a:t>
            </a:r>
            <a:r>
              <a:rPr lang="de-DE" dirty="0" err="1"/>
              <a:t>December</a:t>
            </a:r>
            <a:r>
              <a:rPr lang="de-DE" dirty="0"/>
              <a:t> 2024)</a:t>
            </a:r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Aptos Mono" panose="020B0009020202020204" pitchFamily="49" charset="0"/>
              </a:rPr>
              <a:t>node --permission --allow-fs-read=/folder/ </a:t>
            </a:r>
            <a:r>
              <a:rPr lang="en-US" dirty="0" err="1">
                <a:latin typeface="Aptos Mono" panose="020B0009020202020204" pitchFamily="49" charset="0"/>
              </a:rPr>
              <a:t>script.ts</a:t>
            </a:r>
            <a:endParaRPr lang="en-US" dirty="0">
              <a:latin typeface="Aptos Mono" panose="020B0009020202020204" pitchFamily="49" charset="0"/>
            </a:endParaRPr>
          </a:p>
          <a:p>
            <a:pPr lvl="1"/>
            <a:r>
              <a:rPr lang="en-US" dirty="0">
                <a:hlinkClick r:id="rId4"/>
              </a:rPr>
              <a:t>https://nodejs.org/api/cli.html#--permission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096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C06E6-DCE0-9641-CB3E-12F9B4A0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Advantages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Deno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Scripts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55EE0D-EA6B-9F77-A8E6-5A31D580C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Better</a:t>
            </a:r>
            <a:r>
              <a:rPr lang="de-DE" dirty="0"/>
              <a:t> maintainable </a:t>
            </a:r>
            <a:r>
              <a:rPr lang="de-DE" dirty="0" err="1"/>
              <a:t>than</a:t>
            </a:r>
            <a:r>
              <a:rPr lang="de-DE" dirty="0"/>
              <a:t> Bash, Groovy </a:t>
            </a:r>
            <a:r>
              <a:rPr lang="de-DE" dirty="0" err="1"/>
              <a:t>or</a:t>
            </a:r>
            <a:r>
              <a:rPr lang="de-DE" dirty="0"/>
              <a:t> JavaScript but </a:t>
            </a:r>
            <a:r>
              <a:rPr lang="de-DE" dirty="0" err="1"/>
              <a:t>as</a:t>
            </a:r>
            <a:r>
              <a:rPr lang="de-DE" dirty="0"/>
              <a:t> simple</a:t>
            </a:r>
          </a:p>
          <a:p>
            <a:pPr lvl="1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config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package.json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TypeScript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commonly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developers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Deno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via </a:t>
            </a:r>
            <a:r>
              <a:rPr lang="de-DE" dirty="0" err="1"/>
              <a:t>npm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npm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--save-</a:t>
            </a:r>
            <a:r>
              <a:rPr lang="de-DE" dirty="0" err="1"/>
              <a:t>dev</a:t>
            </a:r>
            <a:r>
              <a:rPr lang="de-DE" dirty="0"/>
              <a:t> </a:t>
            </a:r>
            <a:r>
              <a:rPr lang="de-DE" dirty="0" err="1"/>
              <a:t>deno</a:t>
            </a:r>
            <a:r>
              <a:rPr lang="de-DE" dirty="0"/>
              <a:t>-bin</a:t>
            </a:r>
          </a:p>
          <a:p>
            <a:pPr lvl="1"/>
            <a:r>
              <a:rPr lang="de-DE" dirty="0">
                <a:hlinkClick r:id="rId2"/>
              </a:rPr>
              <a:t>https://www.npmjs.com/package/deno-bin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Demo:</a:t>
            </a:r>
          </a:p>
          <a:p>
            <a:pPr lvl="1"/>
            <a:r>
              <a:rPr lang="de-DE" dirty="0">
                <a:hlinkClick r:id="rId3"/>
              </a:rPr>
              <a:t>https://github.com/MichiSpebach/denoexamples</a:t>
            </a:r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6426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817</Words>
  <Application>Microsoft Office PowerPoint</Application>
  <PresentationFormat>Breitbild</PresentationFormat>
  <Paragraphs>157</Paragraphs>
  <Slides>11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Aptos Mono</vt:lpstr>
      <vt:lpstr>Arial</vt:lpstr>
      <vt:lpstr>Myriad Pro Light</vt:lpstr>
      <vt:lpstr>Open Sans</vt:lpstr>
      <vt:lpstr>Open Sans Light</vt:lpstr>
      <vt:lpstr>Open Sans Semibold</vt:lpstr>
      <vt:lpstr>Office Theme</vt:lpstr>
      <vt:lpstr>1_Office</vt:lpstr>
      <vt:lpstr>PowerPoint-Präsentation</vt:lpstr>
      <vt:lpstr>PowerPoint-Präsentation</vt:lpstr>
      <vt:lpstr>TypeScript everywhere</vt:lpstr>
      <vt:lpstr>TypeScript everywhere</vt:lpstr>
      <vt:lpstr>JavaScript Runtime Environment Overview</vt:lpstr>
      <vt:lpstr>Deno</vt:lpstr>
      <vt:lpstr>When to use Deno</vt:lpstr>
      <vt:lpstr>Important properties for scripts</vt:lpstr>
      <vt:lpstr>Comparison of languages for scripts</vt:lpstr>
      <vt:lpstr>Node.js is catching up</vt:lpstr>
      <vt:lpstr>Advantages of using Deno for Scripts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 TypeScript</dc:title>
  <dc:creator>Michael Speitelsbach</dc:creator>
  <cp:lastModifiedBy>Michael Speitelsbach</cp:lastModifiedBy>
  <cp:revision>121</cp:revision>
  <dcterms:created xsi:type="dcterms:W3CDTF">2024-03-21T16:41:54Z</dcterms:created>
  <dcterms:modified xsi:type="dcterms:W3CDTF">2025-06-04T14:16:17Z</dcterms:modified>
</cp:coreProperties>
</file>